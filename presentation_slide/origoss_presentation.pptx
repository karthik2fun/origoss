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60"/>
  </p:normalViewPr>
  <p:slideViewPr>
    <p:cSldViewPr snapToGrid="0">
      <p:cViewPr varScale="1">
        <p:scale>
          <a:sx n="118" d="100"/>
          <a:sy n="118" d="100"/>
        </p:scale>
        <p:origin x="4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1F6F5-F5D5-52C2-8396-F92DF5CEEF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89821C-AF68-CD0F-2CBE-9F44A2AD1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565C0-366E-9439-3839-A6D1FF808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7EEA-CC0B-DC44-9C15-03A401963862}" type="datetimeFigureOut">
              <a:rPr lang="en-HU" smtClean="0"/>
              <a:t>2026. 02. 04.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D03FF-0668-B7E6-9FDA-764118FD0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298D2-4FED-6069-4A84-A1EBA324A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DAA-CED3-1C4F-A98A-18630185D2E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62324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B6ADC-5F9D-BC02-A4A4-2EA639E1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3C0AF-D406-01C1-8FFA-954C066B8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7758E-23F5-3B01-04B2-1FCA4999F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7EEA-CC0B-DC44-9C15-03A401963862}" type="datetimeFigureOut">
              <a:rPr lang="en-HU" smtClean="0"/>
              <a:t>2026. 02. 04.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97E90-5D8E-D8F5-4826-5DE28E160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5E176-943F-D3FE-D209-B6BA9CDDA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DAA-CED3-1C4F-A98A-18630185D2E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956080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1F0F5-E076-BFD6-25D6-C27E4F1A9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DA5C8-DB92-40FC-9AFE-6B6C74B91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DAA9F-2FCD-6DC5-5142-58D5CCF89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7EEA-CC0B-DC44-9C15-03A401963862}" type="datetimeFigureOut">
              <a:rPr lang="en-HU" smtClean="0"/>
              <a:t>2026. 02. 04.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9711A-74D6-3DB2-DBCB-639B56F9F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655E3-F99A-19E4-C067-6551D23FC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DAA-CED3-1C4F-A98A-18630185D2E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462495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67711-0AC1-E2FE-8632-9B48F602E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20D52-475C-B31D-A372-C866FEBB5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7DFE0-02EC-7C18-F1CD-1BF67E5A4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20CAF-03A2-0E57-2472-DB1BB4D8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7EEA-CC0B-DC44-9C15-03A401963862}" type="datetimeFigureOut">
              <a:rPr lang="en-HU" smtClean="0"/>
              <a:t>2026. 02. 04.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C7E40-BD29-05CD-4DEF-DF3A3E870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493E4-2C86-044A-3AD6-4B147C187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DAA-CED3-1C4F-A98A-18630185D2E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697494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34959-2086-0357-5CB5-A4F65EA06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400CB-104D-16F0-9CF6-0A6D3C0B7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CD302-09F5-90C1-FFA1-29C39F2F0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7A9C98-6167-FE9B-021C-6F683D269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91E79-F20F-63E6-6DB9-AA0214803A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E74E4-10B5-C31F-2449-79727910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7EEA-CC0B-DC44-9C15-03A401963862}" type="datetimeFigureOut">
              <a:rPr lang="en-HU" smtClean="0"/>
              <a:t>2026. 02. 04.</a:t>
            </a:fld>
            <a:endParaRPr lang="en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CDCFEA-7AC4-20FE-BE64-14EC40DF8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6E8D31-27A6-6C4B-BF22-EFDE1FB5D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DAA-CED3-1C4F-A98A-18630185D2E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340260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E15CB-C314-53CF-CDA3-C50AD8457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3CD675-5230-4AE6-8B34-178980D9A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7EEA-CC0B-DC44-9C15-03A401963862}" type="datetimeFigureOut">
              <a:rPr lang="en-HU" smtClean="0"/>
              <a:t>2026. 02. 04.</a:t>
            </a:fld>
            <a:endParaRPr lang="en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3DB869-19DB-CBD0-301A-A9C009FE5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8C9DF-B0C4-550F-873C-634A56685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DAA-CED3-1C4F-A98A-18630185D2E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893453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7F4087-69CF-4E2F-8281-0DBC9D6F7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7EEA-CC0B-DC44-9C15-03A401963862}" type="datetimeFigureOut">
              <a:rPr lang="en-HU" smtClean="0"/>
              <a:t>2026. 02. 04.</a:t>
            </a:fld>
            <a:endParaRPr lang="en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FBB176-15E4-3D07-3B9D-FE08318F9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9A21F-304B-A255-ABF4-AA13C3C6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DAA-CED3-1C4F-A98A-18630185D2E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692195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34EE9-DF47-747B-09DB-1F30AA020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6347C-F386-4024-0820-8045976E1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9DE4C-DB4A-C09C-B42A-321834DFE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0E7DD-CE9D-98FC-CA39-D02C9954E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7EEA-CC0B-DC44-9C15-03A401963862}" type="datetimeFigureOut">
              <a:rPr lang="en-HU" smtClean="0"/>
              <a:t>2026. 02. 04.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D5511-0068-53C1-55EC-3C649C888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95CE2-501B-DF2E-9E0C-E36B9BC01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DAA-CED3-1C4F-A98A-18630185D2E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182238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BB77E-332F-2DBB-0DC7-B6C1F261B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787795-957E-1C46-5339-BD226EF78C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0F50-8F41-ACEB-EA82-5F28EEB22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45254-D92F-D3C1-E69F-09BE941A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7EEA-CC0B-DC44-9C15-03A401963862}" type="datetimeFigureOut">
              <a:rPr lang="en-HU" smtClean="0"/>
              <a:t>2026. 02. 04.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CF1A3-F229-65FD-2E12-663F16D5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2457B-ECB4-817D-A874-8C405FD58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DAA-CED3-1C4F-A98A-18630185D2E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542020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B3932-FBD7-44CE-50AD-36D30575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4701C-A68C-F768-5083-0D9F61A72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815AD-D5AF-182D-5023-C347F883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7EEA-CC0B-DC44-9C15-03A401963862}" type="datetimeFigureOut">
              <a:rPr lang="en-HU" smtClean="0"/>
              <a:t>2026. 02. 04.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F8799-3207-FEA4-71F2-BA2CE0077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FECB8-B9B7-3E26-C01E-0406C38AE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DAA-CED3-1C4F-A98A-18630185D2E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058356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7EC6F3-E6CE-3187-79A0-2086186466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D9672-5C57-29B7-8345-830001E63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4C2EF-01A1-66F9-0530-C092B23A3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7EEA-CC0B-DC44-9C15-03A401963862}" type="datetimeFigureOut">
              <a:rPr lang="en-HU" smtClean="0"/>
              <a:t>2026. 02. 04.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B9FBD-70DF-539A-B58B-F0D94DF15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A5A53-6178-992E-0C25-AE4D2ED9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47DAA-CED3-1C4F-A98A-18630185D2E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95188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59BD21-9BEE-19F6-552A-8431C9947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55737-2B5E-0BF8-9A0F-AC44FE7AF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DD78B-CBAD-A1CE-0416-0561E2C605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B87EEA-CC0B-DC44-9C15-03A401963862}" type="datetimeFigureOut">
              <a:rPr lang="en-HU" smtClean="0"/>
              <a:t>2026. 02. 04.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53D17-A9BF-181D-99E6-62DF395A2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A22B9-A7D6-4268-AA42-C2DBE9B9D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747DAA-CED3-1C4F-A98A-18630185D2E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641099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kryptera.se/t/google-cloud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dolstarastronomer.com/google-cloud-platform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8E187F0-27F3-A273-5242-E922AFB1CAEE}"/>
              </a:ext>
            </a:extLst>
          </p:cNvPr>
          <p:cNvSpPr txBox="1">
            <a:spLocks/>
          </p:cNvSpPr>
          <p:nvPr/>
        </p:nvSpPr>
        <p:spPr>
          <a:xfrm>
            <a:off x="1164772" y="274638"/>
            <a:ext cx="9427027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Migrating Ghost Blog to GCP Kubernetes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AF306-0F24-1713-561D-E0BFE2BDA02D}"/>
              </a:ext>
            </a:extLst>
          </p:cNvPr>
          <p:cNvSpPr txBox="1"/>
          <p:nvPr/>
        </p:nvSpPr>
        <p:spPr>
          <a:xfrm>
            <a:off x="1164772" y="1668920"/>
            <a:ext cx="84255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effectLst/>
              </a:rPr>
              <a:t>A High-Availability, Automated Solution for Efficiency and Scalability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AA6C5-94DC-3283-CA83-491B4FE6E201}"/>
              </a:ext>
            </a:extLst>
          </p:cNvPr>
          <p:cNvSpPr txBox="1"/>
          <p:nvPr/>
        </p:nvSpPr>
        <p:spPr>
          <a:xfrm>
            <a:off x="1088571" y="2690335"/>
            <a:ext cx="85017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Current Challenge: On-prem Ghost app with NGINX proxy and MySQL cluster across Test, Acceptance, Production environments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Goal: Migrate to public cloud Kubernetes, maximizing availability, isolation, and best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Proposed Benefits: Reduced ops overhead, auto-scaling, secure exposure, end-to-end 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Presented by: [Karthikeyan] | Repo: https://</a:t>
            </a:r>
            <a:r>
              <a:rPr lang="en-GB" dirty="0" err="1">
                <a:effectLst/>
              </a:rPr>
              <a:t>github.com</a:t>
            </a:r>
            <a:r>
              <a:rPr lang="en-GB" dirty="0">
                <a:effectLst/>
              </a:rPr>
              <a:t>/karthik2fun/</a:t>
            </a:r>
            <a:r>
              <a:rPr lang="en-GB" dirty="0" err="1">
                <a:effectLst/>
              </a:rPr>
              <a:t>origoss.git</a:t>
            </a:r>
            <a:endParaRPr lang="en-GB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effectLst/>
            </a:endParaRPr>
          </a:p>
        </p:txBody>
      </p:sp>
      <p:pic>
        <p:nvPicPr>
          <p:cNvPr id="24" name="Picture 23" descr="A hexagon shaped logo with white circle and colorful dots&#10;&#10;AI-generated content may be incorrect.">
            <a:extLst>
              <a:ext uri="{FF2B5EF4-FFF2-40B4-BE49-F238E27FC236}">
                <a16:creationId xmlns:a16="http://schemas.microsoft.com/office/drawing/2014/main" id="{DC085EEC-2E83-537E-3955-9BB1640B5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100155" y="5307906"/>
            <a:ext cx="1590685" cy="111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18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EA72F-BB3F-F1B4-2485-3E271CE57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 sz="4800">
                <a:effectLst/>
              </a:rPr>
              <a:t>Current On-Prem Architecture</a:t>
            </a:r>
            <a:endParaRPr lang="en-HU" sz="4800"/>
          </a:p>
        </p:txBody>
      </p:sp>
      <p:sp>
        <p:nvSpPr>
          <p:cNvPr id="2058" name="Rectangle 205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3D1DA3-5228-1F2C-EC5F-535068222E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HU" altLang="en-HU" sz="2000" b="0" i="0" u="none" strike="noStrike" cap="none" normalizeH="0" baseline="0">
                <a:ln>
                  <a:noFill/>
                </a:ln>
                <a:effectLst/>
              </a:rPr>
              <a:t>On-Prem Setup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HU" altLang="en-HU" sz="2000" b="0" i="0" u="none" strike="noStrike" cap="none" normalizeH="0" baseline="0">
                <a:ln>
                  <a:noFill/>
                </a:ln>
                <a:effectLst/>
              </a:rPr>
              <a:t>Ghost application hosted on VMs/containers 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HU" altLang="en-HU" sz="2000" b="0" i="0" u="none" strike="noStrike" cap="none" normalizeH="0" baseline="0">
                <a:ln>
                  <a:noFill/>
                </a:ln>
                <a:effectLst/>
              </a:rPr>
              <a:t>NGINX as reverse proxy for traffic routing 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HU" altLang="en-HU" sz="2000" b="0" i="0" u="none" strike="noStrike" cap="none" normalizeH="0" baseline="0">
                <a:ln>
                  <a:noFill/>
                </a:ln>
                <a:effectLst/>
              </a:rPr>
              <a:t>MySQL cluster for persistent data storage 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HU" altLang="en-HU" sz="2000" b="0" i="0" u="none" strike="noStrike" cap="none" normalizeH="0" baseline="0">
                <a:ln>
                  <a:noFill/>
                </a:ln>
                <a:effectLst/>
              </a:rPr>
              <a:t>Environments: Test, Acceptance, Production (shared infrastructure, potential single points of failure)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HU" altLang="en-HU" sz="2000" b="0" i="0" u="none" strike="noStrike" cap="none" normalizeH="0" baseline="0">
              <a:ln>
                <a:noFill/>
              </a:ln>
              <a:effectLst/>
            </a:endParaRPr>
          </a:p>
        </p:txBody>
      </p:sp>
      <p:pic>
        <p:nvPicPr>
          <p:cNvPr id="2051" name="Picture 3" descr="How to request and expose your Elasticsearch engine for your Ghost ...">
            <a:extLst>
              <a:ext uri="{FF2B5EF4-FFF2-40B4-BE49-F238E27FC236}">
                <a16:creationId xmlns:a16="http://schemas.microsoft.com/office/drawing/2014/main" id="{4BFF61A5-C1FF-C439-3729-463873003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2899299"/>
            <a:ext cx="5150277" cy="2884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2" name="Rectangle 2061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35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6FE8D-1258-D837-9974-E6DD45188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n-GB" sz="3200">
                <a:effectLst/>
              </a:rPr>
              <a:t>Proposed Cloud Architecture</a:t>
            </a:r>
            <a:endParaRPr lang="en-HU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35725-0D3E-5DD1-4303-155151F37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anchor="t">
            <a:normAutofit/>
          </a:bodyPr>
          <a:lstStyle/>
          <a:p>
            <a:r>
              <a:rPr lang="en-GB" sz="1400">
                <a:effectLst/>
              </a:rPr>
              <a:t>High-Level Design:</a:t>
            </a:r>
          </a:p>
          <a:p>
            <a:pPr lvl="1"/>
            <a:r>
              <a:rPr lang="en-GB" sz="1400">
                <a:effectLst/>
              </a:rPr>
              <a:t>Google Kubernetes Engine (GKE) for managed Kubernetes</a:t>
            </a:r>
          </a:p>
          <a:p>
            <a:pPr lvl="1"/>
            <a:r>
              <a:rPr lang="en-GB" sz="1400">
                <a:effectLst/>
              </a:rPr>
              <a:t>Cloud SQL (MySQL) as external HA database with persistence</a:t>
            </a:r>
          </a:p>
          <a:p>
            <a:pPr lvl="1"/>
            <a:r>
              <a:rPr lang="en-GB" sz="1400">
                <a:effectLst/>
              </a:rPr>
              <a:t>NGINX Ingress for secure HTTPS exposure</a:t>
            </a:r>
          </a:p>
          <a:p>
            <a:pPr lvl="1"/>
            <a:r>
              <a:rPr lang="en-GB" sz="1400">
                <a:effectLst/>
              </a:rPr>
              <a:t>Separate GCP projects for Test, Acceptance, Production (workload isolation)</a:t>
            </a:r>
          </a:p>
          <a:p>
            <a:pPr lvl="1"/>
            <a:r>
              <a:rPr lang="en-GB" sz="1400">
                <a:effectLst/>
              </a:rPr>
              <a:t>Observability: Integrated Cloud Monitoring and Logging</a:t>
            </a:r>
            <a:endParaRPr lang="en-GB" sz="1400"/>
          </a:p>
          <a:p>
            <a:pPr lvl="1"/>
            <a:endParaRPr lang="en-GB" sz="1400">
              <a:effectLst/>
            </a:endParaRPr>
          </a:p>
          <a:p>
            <a:pPr lvl="1"/>
            <a:r>
              <a:rPr lang="en-GB" sz="1400">
                <a:effectLst/>
              </a:rPr>
              <a:t>Focus: Maximize availability via regional clusters and auto-scaling</a:t>
            </a:r>
          </a:p>
          <a:p>
            <a:pPr marL="457200" lvl="1" indent="0">
              <a:buNone/>
            </a:pPr>
            <a:endParaRPr lang="en-HU" sz="1400"/>
          </a:p>
        </p:txBody>
      </p:sp>
      <p:pic>
        <p:nvPicPr>
          <p:cNvPr id="3074" name="Picture 2" descr="Google Kubernetes Engine (GKE)">
            <a:extLst>
              <a:ext uri="{FF2B5EF4-FFF2-40B4-BE49-F238E27FC236}">
                <a16:creationId xmlns:a16="http://schemas.microsoft.com/office/drawing/2014/main" id="{3D885F98-3D37-47EE-64C1-E80047C89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1" y="1802390"/>
            <a:ext cx="5319062" cy="3178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79" name="Group 3078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3080" name="Rectangle 3079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1" name="Rectangle 3080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154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ED93-8253-F19F-F65F-8AF5CA2B5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n-GB" sz="3200">
                <a:effectLst/>
              </a:rPr>
              <a:t>Key Components – Infrastructure</a:t>
            </a:r>
            <a:endParaRPr lang="en-HU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D41AF-F176-E972-3B1F-9D25309A3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anchor="t">
            <a:normAutofit/>
          </a:bodyPr>
          <a:lstStyle/>
          <a:p>
            <a:r>
              <a:rPr lang="en-GB" sz="1900">
                <a:effectLst/>
              </a:rPr>
              <a:t>GKE: Managed Kubernetes as a Service – auto-upgrades, scaling, and security</a:t>
            </a:r>
          </a:p>
          <a:p>
            <a:r>
              <a:rPr lang="en-GB" sz="1900">
                <a:effectLst/>
              </a:rPr>
              <a:t>Cloud SQL: External MySQL with automated backups, HA (multi-zone), and private access</a:t>
            </a:r>
          </a:p>
          <a:p>
            <a:r>
              <a:rPr lang="en-GB" sz="1900">
                <a:effectLst/>
              </a:rPr>
              <a:t>Persistent Storage: PVCs for Ghost content (e.g., images/themes) backed by Persistent Disk</a:t>
            </a:r>
          </a:p>
          <a:p>
            <a:r>
              <a:rPr lang="en-GB" sz="1900">
                <a:effectLst/>
              </a:rPr>
              <a:t>Alignment: Meets requirements for Kubernetes implementation, external DB, and persistence</a:t>
            </a:r>
          </a:p>
          <a:p>
            <a:endParaRPr lang="en-HU" sz="1900"/>
          </a:p>
        </p:txBody>
      </p:sp>
      <p:pic>
        <p:nvPicPr>
          <p:cNvPr id="4099" name="Picture 3" descr="Kubernetes on Google Cloud - Details | Outerbounds">
            <a:extLst>
              <a:ext uri="{FF2B5EF4-FFF2-40B4-BE49-F238E27FC236}">
                <a16:creationId xmlns:a16="http://schemas.microsoft.com/office/drawing/2014/main" id="{78709EAA-EAFD-38BD-CF76-BAB62C8BA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1" y="1516490"/>
            <a:ext cx="5319062" cy="3749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04" name="Group 4103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4105" name="Rectangle 4104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6" name="Rectangle 4105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4026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2FDBB-9819-E769-3163-90E5C1A42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n-GB" sz="3200">
                <a:effectLst/>
              </a:rPr>
              <a:t>Key Components – Exposure and Automation</a:t>
            </a:r>
            <a:endParaRPr lang="en-HU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7CC9D-D26F-273F-5943-E25CAA34B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anchor="t">
            <a:normAutofit/>
          </a:bodyPr>
          <a:lstStyle/>
          <a:p>
            <a:r>
              <a:rPr lang="en-GB" sz="2000">
                <a:effectLst/>
              </a:rPr>
              <a:t>NGINX Ingress: Secure app exposure with HTTPS, load balancing</a:t>
            </a:r>
          </a:p>
          <a:p>
            <a:r>
              <a:rPr lang="en-GB" sz="2000">
                <a:effectLst/>
              </a:rPr>
              <a:t>Argo CD: GitOps for declarative app deployments</a:t>
            </a:r>
          </a:p>
          <a:p>
            <a:r>
              <a:rPr lang="en-GB" sz="2000">
                <a:effectLst/>
              </a:rPr>
              <a:t>Terraform: IaC for provisioning all infra from a single codebase</a:t>
            </a:r>
          </a:p>
          <a:p>
            <a:r>
              <a:rPr lang="en-GB" sz="2000">
                <a:effectLst/>
              </a:rPr>
              <a:t>Alignment: Automates end-to-end process, incorporates IaC for reproducibility</a:t>
            </a:r>
          </a:p>
          <a:p>
            <a:endParaRPr lang="en-HU" sz="2000"/>
          </a:p>
        </p:txBody>
      </p:sp>
      <p:pic>
        <p:nvPicPr>
          <p:cNvPr id="5122" name="Picture 2" descr="Getting Started with Terraform: A Beginner's Guide to ...">
            <a:extLst>
              <a:ext uri="{FF2B5EF4-FFF2-40B4-BE49-F238E27FC236}">
                <a16:creationId xmlns:a16="http://schemas.microsoft.com/office/drawing/2014/main" id="{84209A72-99E5-0723-4CCA-178A25E75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1" y="1902122"/>
            <a:ext cx="5319062" cy="297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27" name="Group 5126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5128" name="Rectangle 5127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29" name="Rectangle 5128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hexagon with a black circle&#10;&#10;AI-generated content may be incorrect.">
            <a:extLst>
              <a:ext uri="{FF2B5EF4-FFF2-40B4-BE49-F238E27FC236}">
                <a16:creationId xmlns:a16="http://schemas.microsoft.com/office/drawing/2014/main" id="{16746C7B-FF1D-EC90-56C9-8430B7E207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024488" y="2802507"/>
            <a:ext cx="552896" cy="55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78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D4EF-585B-A7CE-6AB4-2E24B63B3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1005548"/>
            <a:ext cx="4597747" cy="720674"/>
          </a:xfrm>
        </p:spPr>
        <p:txBody>
          <a:bodyPr anchor="b">
            <a:normAutofit/>
          </a:bodyPr>
          <a:lstStyle/>
          <a:p>
            <a:r>
              <a:rPr lang="en-GB" sz="3200" dirty="0">
                <a:effectLst/>
              </a:rPr>
              <a:t>Deployment Process</a:t>
            </a:r>
            <a:endParaRPr lang="en-HU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45032-9128-9CB8-E257-9638C9E6D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065391"/>
            <a:ext cx="4597746" cy="3447832"/>
          </a:xfrm>
        </p:spPr>
        <p:txBody>
          <a:bodyPr anchor="t">
            <a:normAutofit/>
          </a:bodyPr>
          <a:lstStyle/>
          <a:p>
            <a:r>
              <a:rPr lang="en-GB" sz="2000" dirty="0">
                <a:effectLst/>
              </a:rPr>
              <a:t>Step-by-Step:</a:t>
            </a:r>
          </a:p>
          <a:p>
            <a:pPr lvl="1"/>
            <a:r>
              <a:rPr lang="en-GB" sz="2000" dirty="0">
                <a:effectLst/>
              </a:rPr>
              <a:t>Provision infra with Terraform (GKE, Cloud SQL, networking)</a:t>
            </a:r>
          </a:p>
          <a:p>
            <a:pPr lvl="1"/>
            <a:r>
              <a:rPr lang="en-GB" sz="2000" dirty="0">
                <a:effectLst/>
              </a:rPr>
              <a:t>Deploy Ghost via Helm charts in Argo CD (rolling updates, health probes)</a:t>
            </a:r>
          </a:p>
          <a:p>
            <a:pPr lvl="1"/>
            <a:r>
              <a:rPr lang="en-GB" sz="2000" dirty="0">
                <a:effectLst/>
              </a:rPr>
              <a:t>Git push triggers sync for apps across environments</a:t>
            </a:r>
          </a:p>
          <a:p>
            <a:pPr lvl="1"/>
            <a:endParaRPr lang="en-GB" sz="2000" dirty="0"/>
          </a:p>
          <a:p>
            <a:pPr marL="457200" lvl="1" indent="0">
              <a:buNone/>
            </a:pPr>
            <a:r>
              <a:rPr lang="en-GB" sz="2000" dirty="0">
                <a:effectLst/>
              </a:rPr>
              <a:t>Benefits: Zero-downtime, version control, easy rollbacks</a:t>
            </a:r>
          </a:p>
          <a:p>
            <a:pPr lvl="1"/>
            <a:endParaRPr lang="en-HU" sz="2000" dirty="0"/>
          </a:p>
        </p:txBody>
      </p:sp>
      <p:pic>
        <p:nvPicPr>
          <p:cNvPr id="6146" name="Picture 2" descr="Solving configuration drift using GitOps with Argo CD | CNCF">
            <a:extLst>
              <a:ext uri="{FF2B5EF4-FFF2-40B4-BE49-F238E27FC236}">
                <a16:creationId xmlns:a16="http://schemas.microsoft.com/office/drawing/2014/main" id="{BB74ED58-3A31-57EF-58F0-123527CAD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1" y="1636920"/>
            <a:ext cx="5319062" cy="3509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51" name="Group 6150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6152" name="Rectangle 6151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3" name="Rectangle 6152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5174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7CD06-79B0-7643-E60E-97654DC7D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n-GB" sz="3200">
                <a:effectLst/>
              </a:rPr>
              <a:t>Security, High Availability, and Observability</a:t>
            </a:r>
            <a:endParaRPr lang="en-HU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25AB9-AD9C-C3E6-A44E-C2461911C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anchor="t">
            <a:normAutofit/>
          </a:bodyPr>
          <a:lstStyle/>
          <a:p>
            <a:r>
              <a:rPr lang="en-GB" sz="2000">
                <a:effectLst/>
              </a:rPr>
              <a:t>Security: IAM roles, private VPC peering, Secrets Manager, HTTPS-only</a:t>
            </a:r>
          </a:p>
          <a:p>
            <a:r>
              <a:rPr lang="en-GB" sz="2000">
                <a:effectLst/>
              </a:rPr>
              <a:t>HA: Regional GKE clusters, HA Cloud SQL, autoscaling pods</a:t>
            </a:r>
          </a:p>
          <a:p>
            <a:r>
              <a:rPr lang="en-GB" sz="2000">
                <a:effectLst/>
              </a:rPr>
              <a:t>Observability (Extra): Cloud Monitoring for metrics, Logging for audits</a:t>
            </a:r>
          </a:p>
          <a:p>
            <a:r>
              <a:rPr lang="en-GB" sz="2000">
                <a:effectLst/>
              </a:rPr>
              <a:t>Alignment: Enhances quality assurance and security per requirements</a:t>
            </a:r>
          </a:p>
          <a:p>
            <a:pPr marL="0" indent="0">
              <a:buNone/>
            </a:pPr>
            <a:endParaRPr lang="en-HU" sz="2000"/>
          </a:p>
        </p:txBody>
      </p:sp>
      <p:pic>
        <p:nvPicPr>
          <p:cNvPr id="7176" name="Picture 8" descr="Inference Gateway: Intelligent Load Balancing for LLMs on GKE | by Rahul  Ranganathan | Google Cloud - Community | Medium">
            <a:extLst>
              <a:ext uri="{FF2B5EF4-FFF2-40B4-BE49-F238E27FC236}">
                <a16:creationId xmlns:a16="http://schemas.microsoft.com/office/drawing/2014/main" id="{76457FB5-87D1-B3EB-4A38-B196342E9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1" y="1802389"/>
            <a:ext cx="5319062" cy="3178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181" name="Group 7180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7182" name="Rectangle 7181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3" name="Rectangle 7182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AutoShape 2">
            <a:extLst>
              <a:ext uri="{FF2B5EF4-FFF2-40B4-BE49-F238E27FC236}">
                <a16:creationId xmlns:a16="http://schemas.microsoft.com/office/drawing/2014/main" id="{E6281ECD-DD55-50A5-9FA7-74F61856A4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U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A1E273C9-7312-4CC5-7CA8-6A58FB2853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147589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24ABF-9422-BDE8-F03A-3D1B2A3F5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</a:rPr>
              <a:t>Future Enhancements and Estimates</a:t>
            </a:r>
            <a:endParaRPr lang="en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6851D-1731-FF10-8631-C9EF202BD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effectLst/>
              </a:rPr>
              <a:t>Proposed Additions</a:t>
            </a:r>
            <a:r>
              <a:rPr lang="en-HU" dirty="0">
                <a:effectLst/>
              </a:rPr>
              <a:t>:</a:t>
            </a:r>
          </a:p>
          <a:p>
            <a:pPr lvl="1"/>
            <a:r>
              <a:rPr lang="en-GB" dirty="0">
                <a:effectLst/>
              </a:rPr>
              <a:t>Add Cert-Manager for auto-TLS: 1 day</a:t>
            </a:r>
          </a:p>
          <a:p>
            <a:pPr lvl="1"/>
            <a:r>
              <a:rPr lang="en-GB" dirty="0">
                <a:effectLst/>
              </a:rPr>
              <a:t>Integrate WAF (Cloud Armor): 2-3 days, for enhanced security</a:t>
            </a:r>
          </a:p>
          <a:p>
            <a:pPr lvl="1"/>
            <a:r>
              <a:rPr lang="en-GB" dirty="0">
                <a:effectLst/>
              </a:rPr>
              <a:t>Disaster Recovery (cross-region): 3-5 days</a:t>
            </a:r>
          </a:p>
          <a:p>
            <a:pPr lvl="1"/>
            <a:r>
              <a:rPr lang="en-GB" dirty="0">
                <a:effectLst/>
              </a:rPr>
              <a:t>Advanced Monitoring (Prometheus/Grafana): 2-4 hours</a:t>
            </a:r>
          </a:p>
          <a:p>
            <a:pPr lvl="1"/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15195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3F617-10EE-2758-0A3A-1565BAAC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GCP?</a:t>
            </a:r>
            <a:endParaRPr lang="en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55C98-E51F-8E64-B20D-261207412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~30% lower monthly cost</a:t>
            </a:r>
          </a:p>
          <a:p>
            <a:r>
              <a:rPr lang="en-GB" dirty="0"/>
              <a:t>No Kubernetes control-plane fee</a:t>
            </a:r>
          </a:p>
          <a:p>
            <a:r>
              <a:rPr lang="en-GB" dirty="0"/>
              <a:t>Stronger Kubernetes-native experience</a:t>
            </a:r>
          </a:p>
          <a:p>
            <a:r>
              <a:rPr lang="en-GB" dirty="0"/>
              <a:t>Faster delivery with fewer moving parts</a:t>
            </a:r>
          </a:p>
          <a:p>
            <a:r>
              <a:rPr lang="en-GB" dirty="0"/>
              <a:t>Simpler than AWS/Azure</a:t>
            </a:r>
          </a:p>
          <a:p>
            <a:r>
              <a:rPr lang="en-GB" dirty="0"/>
              <a:t>GCP (Warsaw): ~€395 / month</a:t>
            </a:r>
          </a:p>
          <a:p>
            <a:r>
              <a:rPr lang="en-GB" dirty="0"/>
              <a:t>AWS (Frankfurt): ~€550 / month</a:t>
            </a:r>
          </a:p>
        </p:txBody>
      </p:sp>
    </p:spTree>
    <p:extLst>
      <p:ext uri="{BB962C8B-B14F-4D97-AF65-F5344CB8AC3E}">
        <p14:creationId xmlns:p14="http://schemas.microsoft.com/office/powerpoint/2010/main" val="1016841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0F32-4439-7C91-5F69-63591DCE6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264023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HU" sz="60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814569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491</Words>
  <Application>Microsoft Macintosh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Current On-Prem Architecture</vt:lpstr>
      <vt:lpstr>Proposed Cloud Architecture</vt:lpstr>
      <vt:lpstr>Key Components – Infrastructure</vt:lpstr>
      <vt:lpstr>Key Components – Exposure and Automation</vt:lpstr>
      <vt:lpstr>Deployment Process</vt:lpstr>
      <vt:lpstr>Security, High Availability, and Observability</vt:lpstr>
      <vt:lpstr>Future Enhancements and Estimates</vt:lpstr>
      <vt:lpstr>Why GCP?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Sampath, Karthikeyan (external - Service)</dc:creator>
  <cp:lastModifiedBy>Sampath, Karthikeyan (external - Service)</cp:lastModifiedBy>
  <cp:revision>9</cp:revision>
  <dcterms:created xsi:type="dcterms:W3CDTF">2026-02-04T09:25:14Z</dcterms:created>
  <dcterms:modified xsi:type="dcterms:W3CDTF">2026-02-04T10:32:29Z</dcterms:modified>
</cp:coreProperties>
</file>